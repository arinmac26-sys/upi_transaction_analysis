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UPI Transaction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Senior Data Analytics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Monitor transaction performance and failures.</a:t>
            </a:r>
          </a:p>
          <a:p>
            <a:pPr>
              <a:defRPr sz="1800"/>
            </a:pPr>
            <a:r>
              <a:t>Identify high-risk customers, devices and merchants.</a:t>
            </a:r>
          </a:p>
          <a:p>
            <a:pPr>
              <a:defRPr sz="1800"/>
            </a:pPr>
            <a:r>
              <a:t>Measure fraud-control effectiveness and customer experience.</a:t>
            </a:r>
          </a:p>
          <a:p>
            <a:pPr>
              <a:defRPr sz="1800"/>
            </a:pPr>
            <a:r>
              <a:t>Translate analytics into prioritized business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7 relational tables | 100,000 transactions | 10,000 customers | 500 merchants.</a:t>
            </a:r>
          </a:p>
          <a:p>
            <a:pPr>
              <a:defRPr sz="1800"/>
            </a:pPr>
            <a:r>
              <a:t>Validation covers keys, nulls, categorical values and temporal consistency.</a:t>
            </a:r>
          </a:p>
          <a:p>
            <a:pPr>
              <a:defRPr sz="1800"/>
            </a:pPr>
            <a:r>
              <a:t>Workflow: Excel → SQL → Python/Statistics →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KPI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GMV INR 4,241,774 | Avg transaction INR 42.42</a:t>
            </a:r>
          </a:p>
          <a:p>
            <a:pPr>
              <a:defRPr sz="1800"/>
            </a:pPr>
            <a:r>
              <a:t>Success {success:.2%} | Failure {failure:.2%} | Fraud {fraud:.2%} | Reversal {reversal:.2%}</a:t>
            </a:r>
          </a:p>
          <a:p>
            <a:pPr>
              <a:defRPr sz="1800"/>
            </a:pPr>
            <a:r>
              <a:t>Satisfaction {fb.satisfaction_score.mean():.2f}/5 | Alert resolution {fa.resolved.mean():.2%}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Transaction Volume</a:t>
            </a:r>
          </a:p>
        </p:txBody>
      </p:sp>
      <p:pic>
        <p:nvPicPr>
          <p:cNvPr id="3" name="Picture 2" descr="monthly_transaction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Fraud Risk — Rooted Devices</a:t>
            </a:r>
          </a:p>
        </p:txBody>
      </p:sp>
      <p:pic>
        <p:nvPicPr>
          <p:cNvPr id="3" name="Picture 2" descr="fraud_by_device_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Root Causes</a:t>
            </a:r>
          </a:p>
        </p:txBody>
      </p:sp>
      <p:pic>
        <p:nvPicPr>
          <p:cNvPr id="3" name="Picture 2" descr="failure_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Fraud Rate</a:t>
            </a:r>
          </a:p>
        </p:txBody>
      </p:sp>
      <p:pic>
        <p:nvPicPr>
          <p:cNvPr id="3" name="Picture 2" descr="fraud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915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Rooted-device fraud is 20.69% vs 1.39% — the clearest risk signal.</a:t>
            </a:r>
          </a:p>
          <a:p>
            <a:pPr>
              <a:defRPr sz="1800"/>
            </a:pPr>
            <a:r>
              <a:t>The rooted-device difference is statistically significant (p &lt; 0.001).</a:t>
            </a:r>
          </a:p>
          <a:p>
            <a:pPr>
              <a:defRPr sz="1800"/>
            </a:pPr>
            <a:r>
              <a:t>Channel, device/status and merchant-type tests are not significant at 5%.</a:t>
            </a:r>
          </a:p>
          <a:p>
            <a:pPr>
              <a:defRPr sz="1800"/>
            </a:pPr>
            <a:r>
              <a:t>Failure analysis points to incorrect PIN and connectivity/bank issues as key operational levers.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Deploy device-integrity controls and step-up authentication.</a:t>
            </a:r>
          </a:p>
          <a:p>
            <a:pPr>
              <a:defRPr sz="1800"/>
            </a:pPr>
            <a:r>
              <a:t>Improve bank/network failure handling and customer retry guidance.</a:t>
            </a:r>
          </a:p>
          <a:p>
            <a:pPr>
              <a:defRPr sz="1800"/>
            </a:pPr>
            <a:r>
              <a:t>Introduce fraud-alert ageing/SLA monitoring.</a:t>
            </a:r>
          </a:p>
          <a:p>
            <a:pPr>
              <a:defRPr sz="1800"/>
            </a:pPr>
            <a:r>
              <a:t>Use Power BI drill-through for customer/device/merchant investigations.</a:t>
            </a:r>
          </a:p>
          <a:p>
            <a:pPr>
              <a:defRPr sz="1800"/>
            </a:pPr>
            <a:r>
              <a:t>Resolve source-system temporal/data-quality issues before production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