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493B-28DC-F643-EE1A-E9017218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11724-0557-B33A-12AE-FF40ED6B2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0CA0D-02CD-298A-76A2-FC647A477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F12D5-0DF7-D4D5-208E-2EECC503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7EE02-B208-C0E2-3605-030D020A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4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D1BD-EB9C-2B9C-4D77-2A34601C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F84B6-D08E-EBF4-6685-043C10346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25275-A4C0-7AC0-3A43-E9AB2C38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34921-B7AE-D63C-C525-12A0AA71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39C9-73EF-3C3C-2406-73AC7061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BAB4-8541-EF58-756E-710453F2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80D4D-4D90-F98C-92FE-0AEB49DA6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1092C-90DB-40BE-A238-BA3B0194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EF790-3C69-5434-9928-2785C844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AE40-CA8C-1BFA-BF40-49F5EC9C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8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2D302-989D-1E2D-A411-21305BFF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4FCE1-F121-105E-B617-4DC6166A7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BAD55-C7B7-2295-D307-A0501C735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DB213-08B2-FA51-F53F-EEF23903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F561F-86BD-7331-89DB-D00C14B6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9DF36-B234-8A53-F9D7-E1340B51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1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1F18-7CFF-FEED-08EB-2D8ED315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2D9BC-9602-31FF-A45D-BE7E84B09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6E6E2-5EA4-EA6F-1881-FED689801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867F7-F981-DD42-AF41-0A83C4D1A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3F796-83ED-682C-4028-B9B9F2CB7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40F7F7-71A2-2588-681F-F3ECCE98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6FD106-F7C8-B560-37BB-FFBE2415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E1F6C-5399-F5D1-2DA3-80DE2792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57B6-2FFC-E9C8-6E54-4D51409F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0D796-C353-D952-75FC-5DF94D97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40DFC-52A1-F024-6838-7947F757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32AC8-54F8-EC86-7678-8CA246DE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77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C666B-A0C5-D199-461E-22B9EC8B9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BCFDA-704C-BECC-9E61-07DB1C2C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8BD60-D9EF-3154-3F6B-8EF77DC1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2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8E55-74CF-F86D-208B-04DA1373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BF654-D749-4560-1B0D-0B3F0E9C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59B66-88F3-76AB-1474-5B85D764E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30B2D-8CD9-B847-15E7-7177DF6A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88F35-82E0-4E5E-78B4-51C79F77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81CD1-479D-7EC7-3B55-053702E5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BF9B-2E7D-14E4-6273-C0FF6680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74B4D-E1AE-8D97-DF31-C6CD25499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02B31-051E-D041-28E1-5EDF39722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9FAA0-397D-496E-63D5-F44571DC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5787B-6119-8EE3-D1AF-0EF8829A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F2C24-8E48-5698-50C9-B930B5E9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9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58BD-71CC-88B2-07C4-72A31C374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77E3E-87C0-2D24-5B6E-E2601F284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E40E-0ED7-9713-C02E-5C039969E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C4ED-47BE-37B2-9C40-C47D8964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12D7C-A6D3-6334-3E1E-88C990A7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6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708E3-6EAE-0CCA-F0BF-EF622949E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670FC-BC52-4808-9A0B-64C8E60B9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18CD-DFDB-34A0-C579-649754BD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9E970-E9C3-5C28-9FE8-759B0006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13E05-DE03-35BB-2CA9-394C8AAC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8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E2109-D26C-16F2-7B3E-B6A40681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7AD15-D614-096F-1CE5-C09CF8698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1429D-9189-34AA-DF2F-B75CF6746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3DD77-0535-2745-95B6-A713DA56EF2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F8430-BC2A-462D-9B6A-AC70ED99C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20B1D-A9FE-D9CE-3177-BD86F89B0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7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2330-73B0-59B6-4EBC-B3B12AA66A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UPI Transactions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51C79-C46E-2C6E-38AD-213BE9BCDE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EC08-EEEA-F0C0-9914-8A3171A4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451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	</a:t>
            </a:r>
            <a:r>
              <a:rPr lang="en-IN" sz="3600" dirty="0">
                <a:highlight>
                  <a:srgbClr val="FFFF00"/>
                </a:highlight>
              </a:rPr>
              <a:t>Overall Transaction Performance(KPI)</a:t>
            </a:r>
            <a:endParaRPr lang="en-US" sz="36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09D1-8815-BFC8-E322-6450C5860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8576"/>
            <a:ext cx="10515600" cy="5028387"/>
          </a:xfrm>
        </p:spPr>
        <p:txBody>
          <a:bodyPr/>
          <a:lstStyle/>
          <a:p>
            <a:r>
              <a:rPr lang="en-IN" dirty="0"/>
              <a:t>Total Transactions : 100K</a:t>
            </a:r>
          </a:p>
          <a:p>
            <a:r>
              <a:rPr lang="en-IN" dirty="0"/>
              <a:t>Total Transaction Amt : 4.24M</a:t>
            </a:r>
          </a:p>
          <a:p>
            <a:r>
              <a:rPr lang="en-IN" dirty="0" err="1"/>
              <a:t>Avg</a:t>
            </a:r>
            <a:r>
              <a:rPr lang="en-IN" dirty="0"/>
              <a:t> Transaction Amt : 42.42</a:t>
            </a:r>
          </a:p>
          <a:p>
            <a:r>
              <a:rPr lang="en-IN" dirty="0"/>
              <a:t>Failed Transactions : 5.87K</a:t>
            </a:r>
          </a:p>
          <a:p>
            <a:r>
              <a:rPr lang="en-IN" dirty="0"/>
              <a:t>Failure Rate  : 5.87% </a:t>
            </a:r>
          </a:p>
          <a:p>
            <a:r>
              <a:rPr lang="en-IN" dirty="0"/>
              <a:t>Fraud Transactions : 2K</a:t>
            </a:r>
          </a:p>
          <a:p>
            <a:r>
              <a:rPr lang="en-IN" dirty="0"/>
              <a:t>Fraud Rate : 2%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9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4C11-8E63-AD96-5C19-393C3913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7626"/>
          </a:xfrm>
        </p:spPr>
        <p:txBody>
          <a:bodyPr>
            <a:normAutofit fontScale="90000"/>
          </a:bodyPr>
          <a:lstStyle/>
          <a:p>
            <a:r>
              <a:rPr lang="en-IN" sz="2000" b="1" dirty="0"/>
              <a:t>Business interpretation</a:t>
            </a:r>
            <a:br>
              <a:rPr lang="en-IN" sz="2000" b="1" dirty="0"/>
            </a:br>
            <a:r>
              <a:rPr lang="en-IN" sz="2000" dirty="0"/>
              <a:t>The fraud rate is relatively contained at 2%, but the </a:t>
            </a:r>
            <a:r>
              <a:rPr lang="en-IN" sz="2000" b="1" dirty="0"/>
              <a:t>failure rate of 7.86% is materially larger</a:t>
            </a:r>
            <a:r>
              <a:rPr lang="en-IN" sz="2000" dirty="0"/>
              <a:t> and represents a bigger immediate operational and customer-experience issue.</a:t>
            </a:r>
            <a:br>
              <a:rPr lang="en-IN" sz="2000" dirty="0"/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44580-113B-A0D7-D0BA-FABC778E1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171"/>
            <a:ext cx="10515600" cy="4615792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ighlight>
                  <a:srgbClr val="FF00FF"/>
                </a:highlight>
              </a:rPr>
              <a:t>INSIGHT 2 — Feature phones have the highest fraud rate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sz="1800" b="1" dirty="0"/>
              <a:t>Interpretation</a:t>
            </a:r>
          </a:p>
          <a:p>
            <a:pPr marL="0" indent="0">
              <a:buNone/>
            </a:pPr>
            <a:r>
              <a:rPr lang="en-IN" sz="1800" dirty="0"/>
              <a:t>	Feature-phone transactions show the highest fraud concentration with 2.15%.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b="1" dirty="0"/>
              <a:t>Possible reason to investigate</a:t>
            </a:r>
          </a:p>
          <a:p>
            <a:pPr lvl="1"/>
            <a:r>
              <a:rPr lang="en-IN" sz="1400" dirty="0"/>
              <a:t>Weaker device-level security </a:t>
            </a:r>
          </a:p>
          <a:p>
            <a:pPr lvl="1"/>
            <a:r>
              <a:rPr lang="en-IN" sz="1400" dirty="0"/>
              <a:t>Older operating environments </a:t>
            </a:r>
          </a:p>
          <a:p>
            <a:pPr lvl="1"/>
            <a:r>
              <a:rPr lang="en-IN" sz="1400" dirty="0"/>
              <a:t>Less advanced authentication </a:t>
            </a:r>
          </a:p>
          <a:p>
            <a:pPr lvl="1"/>
            <a:r>
              <a:rPr lang="en-IN" sz="1400" dirty="0"/>
              <a:t>Greater vulnerability to SIM or account compromise</a:t>
            </a:r>
          </a:p>
          <a:p>
            <a:pPr lvl="1"/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37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3317-418C-24F0-A409-C6CE2E6E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3 — Android has the highest transaction failure rate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1C2F-88A9-76E9-AC19-F16CE27FB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Android Failure Rate = 8.17%. This is the highest among device types.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Business impact</a:t>
            </a:r>
          </a:p>
          <a:p>
            <a:pPr lvl="1"/>
            <a:r>
              <a:rPr lang="en-IN" dirty="0"/>
              <a:t>Android users may be experiencing</a:t>
            </a:r>
          </a:p>
          <a:p>
            <a:pPr lvl="1"/>
            <a:r>
              <a:rPr lang="en-IN" dirty="0"/>
              <a:t>App compatibility problems </a:t>
            </a:r>
          </a:p>
          <a:p>
            <a:pPr lvl="1"/>
            <a:r>
              <a:rPr lang="en-IN" dirty="0"/>
              <a:t>Network instability </a:t>
            </a:r>
          </a:p>
          <a:p>
            <a:pPr lvl="1"/>
            <a:r>
              <a:rPr lang="en-IN" dirty="0"/>
              <a:t>App version issues </a:t>
            </a:r>
          </a:p>
          <a:p>
            <a:pPr lvl="1"/>
            <a:r>
              <a:rPr lang="en-IN" dirty="0"/>
              <a:t>Authentication or device-specific problems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64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023F-501E-BC4D-A091-5A3C6B367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4 — West region has the highest fraud rate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1DDD-AFF6-09AF-6AD4-9FD7921A1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West Region Fraud Rate = 2.09%. </a:t>
            </a:r>
            <a:r>
              <a:rPr lang="en-IN" dirty="0"/>
              <a:t>This is higher than the other regions.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Business interpretation</a:t>
            </a:r>
          </a:p>
          <a:p>
            <a:pPr lvl="1"/>
            <a:r>
              <a:rPr lang="en-IN" dirty="0"/>
              <a:t>The West region should be prioritized for</a:t>
            </a:r>
          </a:p>
          <a:p>
            <a:pPr lvl="1"/>
            <a:r>
              <a:rPr lang="en-IN" dirty="0"/>
              <a:t>Enhanced fraud monitoring </a:t>
            </a:r>
          </a:p>
          <a:p>
            <a:pPr lvl="1"/>
            <a:r>
              <a:rPr lang="en-IN" dirty="0"/>
              <a:t>Regional transaction risk rules </a:t>
            </a:r>
          </a:p>
          <a:p>
            <a:pPr lvl="1"/>
            <a:r>
              <a:rPr lang="en-IN" dirty="0"/>
              <a:t>Customer awareness campaigns </a:t>
            </a:r>
          </a:p>
          <a:p>
            <a:pPr lvl="1"/>
            <a:r>
              <a:rPr lang="en-IN" dirty="0"/>
              <a:t>High-risk merchant review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72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8875-D91A-2F84-EAE8-54064A6E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5 — Transaction failures are driven by four major root causes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85C1-26AE-F5D3-4A86-C7D002E00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322"/>
            <a:ext cx="10515600" cy="4604641"/>
          </a:xfrm>
        </p:spPr>
        <p:txBody>
          <a:bodyPr>
            <a:normAutofit lnSpcReduction="10000"/>
          </a:bodyPr>
          <a:lstStyle/>
          <a:p>
            <a:r>
              <a:rPr lang="en-US" sz="2100" dirty="0"/>
              <a:t>Incorrect PIN      1,511</a:t>
            </a:r>
          </a:p>
          <a:p>
            <a:r>
              <a:rPr lang="en-US" sz="2100" dirty="0"/>
              <a:t>Network Error      1,486</a:t>
            </a:r>
          </a:p>
          <a:p>
            <a:r>
              <a:rPr lang="en-US" sz="2100" dirty="0"/>
              <a:t>Account Blocked    1,455</a:t>
            </a:r>
          </a:p>
          <a:p>
            <a:r>
              <a:rPr lang="en-US" sz="2100" dirty="0"/>
              <a:t>Bank Down          1,419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Business interpretation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2200" dirty="0"/>
              <a:t>The largest failure causes involve both:</a:t>
            </a:r>
          </a:p>
          <a:p>
            <a:pPr marL="0" lvl="0" indent="0">
              <a:buNone/>
            </a:pPr>
            <a:r>
              <a:rPr lang="en-IN" sz="2200" b="1" dirty="0"/>
              <a:t>	1) Customer behaviour</a:t>
            </a:r>
            <a:r>
              <a:rPr lang="en-IN" sz="2200" dirty="0"/>
              <a:t> — Incorrect PIN </a:t>
            </a:r>
          </a:p>
          <a:p>
            <a:pPr marL="0" lvl="0" indent="0">
              <a:buNone/>
            </a:pPr>
            <a:r>
              <a:rPr lang="en-IN" sz="2200" b="1" dirty="0"/>
              <a:t>	2) Technical/infrastructure issues</a:t>
            </a:r>
            <a:r>
              <a:rPr lang="en-IN" sz="2200" dirty="0"/>
              <a:t> — Network and Bank Down </a:t>
            </a:r>
          </a:p>
          <a:p>
            <a:pPr marL="0" lvl="0" indent="0">
              <a:buNone/>
            </a:pPr>
            <a:r>
              <a:rPr lang="en-IN" sz="2200" b="1" dirty="0"/>
              <a:t>	3) Account management issues</a:t>
            </a:r>
            <a:r>
              <a:rPr lang="en-IN" sz="2200" dirty="0"/>
              <a:t> — Account Blocked </a:t>
            </a:r>
          </a:p>
          <a:p>
            <a:pPr marL="0" indent="0">
              <a:buNone/>
            </a:pPr>
            <a:r>
              <a:rPr lang="en-IN" sz="2200" dirty="0"/>
              <a:t>Therefore, reducing failure rates requires multiple interventions.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295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466A-2536-A63D-6A9E-73D516EE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solidFill>
                  <a:schemeClr val="accent5"/>
                </a:solidFill>
              </a:rPr>
              <a:t>STRATEGIC RECOMMENDATION 1 — Device-Based Fraud Controls</a:t>
            </a:r>
            <a:br>
              <a:rPr lang="en-IN" sz="3200" b="1" dirty="0"/>
            </a:b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E1D4-8734-876D-175A-A87D37D2A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b="1" dirty="0"/>
              <a:t>Problem: </a:t>
            </a:r>
            <a:r>
              <a:rPr lang="en-IN" sz="1600" dirty="0"/>
              <a:t>Feature phones have the highest fraud rate at: 2.15%.</a:t>
            </a:r>
          </a:p>
          <a:p>
            <a:r>
              <a:rPr lang="en-IN" sz="1600" b="1" dirty="0"/>
              <a:t>Recommendation</a:t>
            </a:r>
          </a:p>
          <a:p>
            <a:pPr lvl="1"/>
            <a:r>
              <a:rPr lang="en-IN" sz="1600" dirty="0"/>
              <a:t>Implement additional authentication for high-risk device activity:</a:t>
            </a:r>
          </a:p>
          <a:p>
            <a:pPr lvl="1"/>
            <a:r>
              <a:rPr lang="en-IN" sz="1600" dirty="0"/>
              <a:t>Step-up verification </a:t>
            </a:r>
          </a:p>
          <a:p>
            <a:pPr lvl="1"/>
            <a:r>
              <a:rPr lang="en-IN" sz="1600" dirty="0"/>
              <a:t>OTP verification for unusual transactions </a:t>
            </a:r>
          </a:p>
          <a:p>
            <a:pPr lvl="1"/>
            <a:r>
              <a:rPr lang="en-IN" sz="1600" dirty="0"/>
              <a:t>Device fingerprinting </a:t>
            </a:r>
          </a:p>
          <a:p>
            <a:pPr lvl="1"/>
            <a:r>
              <a:rPr lang="en-IN" sz="1600" dirty="0"/>
              <a:t>Velocity monitoring </a:t>
            </a:r>
          </a:p>
          <a:p>
            <a:pPr lvl="1"/>
            <a:r>
              <a:rPr lang="en-IN" sz="1600" dirty="0"/>
              <a:t>Suspicious login detection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Potential business impact estimate</a:t>
            </a:r>
          </a:p>
          <a:p>
            <a:pPr marL="0" indent="0">
              <a:buNone/>
            </a:pPr>
            <a:r>
              <a:rPr lang="en-IN" sz="1600" dirty="0"/>
              <a:t>	If targeted controls reduce feature-phone fraud by </a:t>
            </a:r>
            <a:r>
              <a:rPr lang="en-IN" sz="1600" b="1" dirty="0"/>
              <a:t>20%</a:t>
            </a:r>
            <a:r>
              <a:rPr lang="en-IN" sz="1600" dirty="0"/>
              <a:t>, approximately. This could materially reduce fraud exposure in that segment.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6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11AC-9E38-4857-13A5-6E28F06DF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5"/>
                </a:solidFill>
              </a:rPr>
              <a:t>STRATEGIC RECOMMENDATION 2 — Android Failure Reduction Program</a:t>
            </a:r>
            <a:endParaRPr lang="en-US" sz="32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D369-54D9-3528-AE0B-82BF7935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1600" b="1" dirty="0"/>
              <a:t>Problem : </a:t>
            </a:r>
            <a:r>
              <a:rPr lang="en-IN" sz="1600" dirty="0"/>
              <a:t>Android has the highest failure rate:- 8.17%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Recommendation</a:t>
            </a:r>
          </a:p>
          <a:p>
            <a:pPr lvl="1"/>
            <a:r>
              <a:rPr lang="en-IN" sz="1600" dirty="0"/>
              <a:t>Create an Android reliability program:</a:t>
            </a:r>
          </a:p>
          <a:p>
            <a:pPr lvl="1"/>
            <a:r>
              <a:rPr lang="en-IN" sz="1600" dirty="0"/>
              <a:t>Monitor failures by app version </a:t>
            </a:r>
          </a:p>
          <a:p>
            <a:pPr lvl="1"/>
            <a:r>
              <a:rPr lang="en-IN" sz="1600" dirty="0"/>
              <a:t>Identify high-failure Android versions </a:t>
            </a:r>
          </a:p>
          <a:p>
            <a:pPr lvl="1"/>
            <a:r>
              <a:rPr lang="en-IN" sz="1600" dirty="0"/>
              <a:t>Improve network retry handling </a:t>
            </a:r>
          </a:p>
          <a:p>
            <a:pPr lvl="1"/>
            <a:r>
              <a:rPr lang="en-IN" sz="1600" dirty="0"/>
              <a:t>Prompt users to update outdated versions </a:t>
            </a:r>
          </a:p>
          <a:p>
            <a:pPr lvl="1"/>
            <a:r>
              <a:rPr lang="en-IN" sz="1600" dirty="0"/>
              <a:t>Add diagnostics for failed authentication </a:t>
            </a:r>
          </a:p>
          <a:p>
            <a:pPr marL="457200" lvl="1" indent="0">
              <a:buNone/>
            </a:pPr>
            <a:endParaRPr lang="en-IN" sz="1600" dirty="0"/>
          </a:p>
          <a:p>
            <a:r>
              <a:rPr lang="en-IN" sz="1600" b="1" dirty="0"/>
              <a:t>Potential business impact estimate</a:t>
            </a:r>
          </a:p>
          <a:p>
            <a:pPr marL="0" indent="0">
              <a:buNone/>
            </a:pPr>
            <a:r>
              <a:rPr lang="en-IN" sz="1600" dirty="0"/>
              <a:t>	A </a:t>
            </a:r>
            <a:r>
              <a:rPr lang="en-IN" sz="1600" b="1" dirty="0"/>
              <a:t>15% reduction</a:t>
            </a:r>
            <a:r>
              <a:rPr lang="en-IN" sz="1600" dirty="0"/>
              <a:t> in Android failures would recover approximately: 2,054 × 15% ≈ 308 transactions.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This would improve customer experience and transaction completion.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12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9E4F-9AC8-D571-1CCF-0B4C56EE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5"/>
                </a:solidFill>
              </a:rPr>
              <a:t>STRATEGIC RECOMMENDATION 3 — PIN &amp; Customer Education Campaign</a:t>
            </a:r>
            <a:endParaRPr lang="en-US" sz="3200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132C5-8C49-AD74-E21B-AFF72B1FF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b="1" dirty="0"/>
              <a:t>Problem : </a:t>
            </a:r>
            <a:r>
              <a:rPr lang="en-IN" sz="1600" dirty="0"/>
              <a:t>The largest single failure reason is: Incorrect PIN = 1,511 failures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Recommendation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	Clear PIN guidance </a:t>
            </a:r>
          </a:p>
          <a:p>
            <a:pPr marL="0" lvl="0" indent="0">
              <a:buNone/>
            </a:pPr>
            <a:r>
              <a:rPr lang="en-IN" sz="1600" dirty="0"/>
              <a:t>	Better error messages </a:t>
            </a:r>
          </a:p>
          <a:p>
            <a:pPr marL="0" lvl="0" indent="0">
              <a:buNone/>
            </a:pPr>
            <a:r>
              <a:rPr lang="en-IN" sz="1600" dirty="0"/>
              <a:t>	Pre-transaction warnings after repeated incorrect attempts </a:t>
            </a:r>
          </a:p>
          <a:p>
            <a:pPr marL="0" lvl="0" indent="0">
              <a:buNone/>
            </a:pPr>
            <a:r>
              <a:rPr lang="en-IN" sz="1600" dirty="0"/>
              <a:t>	Educational in-app notifications 	</a:t>
            </a:r>
          </a:p>
          <a:p>
            <a:pPr marL="0" lvl="0" indent="0">
              <a:buNone/>
            </a:pPr>
            <a:r>
              <a:rPr lang="en-IN" sz="1600" dirty="0"/>
              <a:t>	Secure PIN reset guidance</a:t>
            </a:r>
          </a:p>
          <a:p>
            <a:r>
              <a:rPr lang="en-IN" sz="1600" b="1" dirty="0"/>
              <a:t>Potential impact estimate : </a:t>
            </a:r>
            <a:r>
              <a:rPr lang="en-IN" sz="1600" dirty="0"/>
              <a:t>If Incorrect PIN failures decrease by </a:t>
            </a:r>
            <a:r>
              <a:rPr lang="en-IN" sz="1600" b="1" dirty="0"/>
              <a:t>25%</a:t>
            </a:r>
            <a:r>
              <a:rPr lang="en-IN" sz="1600" dirty="0"/>
              <a:t>: 1,511 × 25% ≈ 378 fewer failures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This could improve overall transaction success without major infrastructure investment.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085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D351-A68F-8CC1-3F24-225606E2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STRATEGIC RECOMMENDATION 4 — High-Risk Merchant Monitoring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4E674-D9CC-5852-FA53-80E265FB2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b="1" dirty="0"/>
              <a:t>Problem : </a:t>
            </a:r>
            <a:r>
              <a:rPr lang="en-IN" sz="1600" dirty="0"/>
              <a:t>Electronics and Apparel have the highest fraud rates.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dirty="0"/>
              <a:t>Merchants exceeding the threshold should receive:</a:t>
            </a:r>
          </a:p>
          <a:p>
            <a:pPr lvl="0"/>
            <a:r>
              <a:rPr lang="en-IN" sz="1600" dirty="0"/>
              <a:t>Enhanced transaction monitoring </a:t>
            </a:r>
          </a:p>
          <a:p>
            <a:pPr lvl="0"/>
            <a:r>
              <a:rPr lang="en-IN" sz="1600" dirty="0"/>
              <a:t>Periodic onboarding review </a:t>
            </a:r>
          </a:p>
          <a:p>
            <a:pPr lvl="0"/>
            <a:r>
              <a:rPr lang="en-IN" sz="1600" dirty="0"/>
              <a:t>Temporary transaction limits where justified </a:t>
            </a:r>
          </a:p>
          <a:p>
            <a:pPr lvl="0"/>
            <a:r>
              <a:rPr lang="en-IN" sz="1600" dirty="0"/>
              <a:t>Fraud investigation review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Potential impact</a:t>
            </a:r>
          </a:p>
          <a:p>
            <a:pPr marL="0" indent="0">
              <a:buNone/>
            </a:pPr>
            <a:r>
              <a:rPr lang="en-IN" sz="1600"/>
              <a:t>	Even a </a:t>
            </a:r>
            <a:r>
              <a:rPr lang="en-IN" sz="1600" b="1"/>
              <a:t>10–15% reduction in fraud within high-risk categories</a:t>
            </a:r>
            <a:r>
              <a:rPr lang="en-IN" sz="1600"/>
              <a:t> could reduce a disproportionate amount of 	fraud exposure.</a:t>
            </a:r>
          </a:p>
          <a:p>
            <a:pPr marL="0" indent="0">
              <a:buNone/>
            </a:pPr>
            <a:endParaRPr lang="en-IN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451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575</Words>
  <Application>Microsoft Macintosh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UPI Transactions Analysis</vt:lpstr>
      <vt:lpstr> Overall Transaction Performance(KPI)</vt:lpstr>
      <vt:lpstr>Business interpretation The fraud rate is relatively contained at 2%, but the failure rate of 7.86% is materially larger and represents a bigger immediate operational and customer-experience issue. </vt:lpstr>
      <vt:lpstr>INSIGHT 3 — Android has the highest transaction failure rate</vt:lpstr>
      <vt:lpstr>INSIGHT 4 — West region has the highest fraud rate</vt:lpstr>
      <vt:lpstr>INSIGHT 5 — Transaction failures are driven by four major root causes</vt:lpstr>
      <vt:lpstr>STRATEGIC RECOMMENDATION 1 — Device-Based Fraud Controls </vt:lpstr>
      <vt:lpstr>STRATEGIC RECOMMENDATION 2 — Android Failure Reduction Program</vt:lpstr>
      <vt:lpstr>STRATEGIC RECOMMENDATION 3 — PIN &amp; Customer Education Campaign</vt:lpstr>
      <vt:lpstr>STRATEGIC RECOMMENDATION 4 — High-Risk Merchant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arinmac26@gmail.com</dc:creator>
  <cp:lastModifiedBy>arinmac26@gmail.com</cp:lastModifiedBy>
  <cp:revision>8</cp:revision>
  <dcterms:created xsi:type="dcterms:W3CDTF">2026-08-26T16:34:17Z</dcterms:created>
  <dcterms:modified xsi:type="dcterms:W3CDTF">2026-08-26T18:51:36Z</dcterms:modified>
</cp:coreProperties>
</file>