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27" r:id="rId1"/>
  </p:sld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643"/>
  </p:normalViewPr>
  <p:slideViewPr>
    <p:cSldViewPr snapToGrid="0">
      <p:cViewPr varScale="1">
        <p:scale>
          <a:sx n="115" d="100"/>
          <a:sy n="115" d="100"/>
        </p:scale>
        <p:origin x="4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DD77-0535-2745-95B6-A713DA56EF22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3239D-540F-4E4D-B7BA-BF591C05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256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DD77-0535-2745-95B6-A713DA56EF22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3239D-540F-4E4D-B7BA-BF591C05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746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DD77-0535-2745-95B6-A713DA56EF22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3239D-540F-4E4D-B7BA-BF591C05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580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DD77-0535-2745-95B6-A713DA56EF22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3239D-540F-4E4D-B7BA-BF591C05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596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DD77-0535-2745-95B6-A713DA56EF22}" type="datetimeFigureOut">
              <a:rPr lang="en-US" smtClean="0"/>
              <a:t>9/12/26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3239D-540F-4E4D-B7BA-BF591C05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489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DD77-0535-2745-95B6-A713DA56EF22}" type="datetimeFigureOut">
              <a:rPr lang="en-US" smtClean="0"/>
              <a:t>9/12/26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3239D-540F-4E4D-B7BA-BF591C05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643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DD77-0535-2745-95B6-A713DA56EF22}" type="datetimeFigureOut">
              <a:rPr lang="en-US" smtClean="0"/>
              <a:t>9/12/26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3239D-540F-4E4D-B7BA-BF591C05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105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DD77-0535-2745-95B6-A713DA56EF22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3239D-540F-4E4D-B7BA-BF591C05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382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C0B3DD77-0535-2745-95B6-A713DA56EF22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BBB3239D-540F-4E4D-B7BA-BF591C05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17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DD77-0535-2745-95B6-A713DA56EF22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3239D-540F-4E4D-B7BA-BF591C05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566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DD77-0535-2745-95B6-A713DA56EF22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3239D-540F-4E4D-B7BA-BF591C05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5170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DD77-0535-2745-95B6-A713DA56EF22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3239D-540F-4E4D-B7BA-BF591C05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7776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DD77-0535-2745-95B6-A713DA56EF22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3239D-540F-4E4D-B7BA-BF591C05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167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DD77-0535-2745-95B6-A713DA56EF22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3239D-540F-4E4D-B7BA-BF591C05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7539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DD77-0535-2745-95B6-A713DA56EF22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3239D-540F-4E4D-B7BA-BF591C05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7724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DD77-0535-2745-95B6-A713DA56EF22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3239D-540F-4E4D-B7BA-BF591C05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0662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DD77-0535-2745-95B6-A713DA56EF22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3239D-540F-4E4D-B7BA-BF591C05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42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DD77-0535-2745-95B6-A713DA56EF22}" type="datetimeFigureOut">
              <a:rPr lang="en-US" smtClean="0"/>
              <a:t>9/12/26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3239D-540F-4E4D-B7BA-BF591C05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2901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0B3DD77-0535-2745-95B6-A713DA56EF22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BB3239D-540F-4E4D-B7BA-BF591C05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2808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28" r:id="rId1"/>
    <p:sldLayoutId id="2147484129" r:id="rId2"/>
    <p:sldLayoutId id="2147484130" r:id="rId3"/>
    <p:sldLayoutId id="2147484131" r:id="rId4"/>
    <p:sldLayoutId id="2147484132" r:id="rId5"/>
    <p:sldLayoutId id="2147484133" r:id="rId6"/>
    <p:sldLayoutId id="2147484134" r:id="rId7"/>
    <p:sldLayoutId id="2147484135" r:id="rId8"/>
    <p:sldLayoutId id="2147484136" r:id="rId9"/>
    <p:sldLayoutId id="2147484137" r:id="rId10"/>
    <p:sldLayoutId id="2147484138" r:id="rId11"/>
    <p:sldLayoutId id="2147484139" r:id="rId12"/>
    <p:sldLayoutId id="2147484140" r:id="rId13"/>
    <p:sldLayoutId id="2147484141" r:id="rId14"/>
    <p:sldLayoutId id="2147484142" r:id="rId15"/>
    <p:sldLayoutId id="2147484143" r:id="rId16"/>
    <p:sldLayoutId id="2147484144" r:id="rId17"/>
    <p:sldLayoutId id="2147484145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F1E4E-9DFC-3BE4-B9EC-413FA0EA4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524107"/>
            <a:ext cx="11631478" cy="869795"/>
          </a:xfrm>
        </p:spPr>
        <p:txBody>
          <a:bodyPr/>
          <a:lstStyle/>
          <a:p>
            <a:pPr algn="ctr"/>
            <a:r>
              <a:rPr lang="en-US" dirty="0">
                <a:highlight>
                  <a:srgbClr val="FFFF00"/>
                </a:highlight>
              </a:rPr>
              <a:t>UPI Transaction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D05CB-3C13-34AB-EA14-81B236B7DC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2085278"/>
            <a:ext cx="7235954" cy="2776654"/>
          </a:xfrm>
        </p:spPr>
        <p:txBody>
          <a:bodyPr/>
          <a:lstStyle/>
          <a:p>
            <a:pPr algn="ctr"/>
            <a:r>
              <a:rPr lang="en-US" sz="2400" dirty="0"/>
              <a:t>Presented By</a:t>
            </a:r>
          </a:p>
          <a:p>
            <a:pPr algn="ctr"/>
            <a:r>
              <a:rPr lang="en-US" sz="2400" dirty="0"/>
              <a:t>ARINDAM DAS BISWAS</a:t>
            </a:r>
          </a:p>
          <a:p>
            <a:pPr algn="ctr"/>
            <a:r>
              <a:rPr lang="en-IN" sz="2400" dirty="0">
                <a:effectLst/>
              </a:rPr>
              <a:t>Learner ID : 24CRD04702</a:t>
            </a:r>
          </a:p>
          <a:p>
            <a:pPr algn="ctr"/>
            <a:br>
              <a:rPr lang="en-IN" sz="2400" dirty="0">
                <a:effectLst/>
              </a:rPr>
            </a:br>
            <a:r>
              <a:rPr lang="en-IN" sz="2400" dirty="0">
                <a:effectLst/>
              </a:rPr>
              <a:t>PYTHON/MYSQL/EXCEL/POWER BI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21644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F2330-73B0-59B6-4EBC-B3B12AA66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0" y="317288"/>
            <a:ext cx="11604047" cy="1202023"/>
          </a:xfrm>
        </p:spPr>
        <p:txBody>
          <a:bodyPr>
            <a:norm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UPI Transactions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C51C79-C46E-2C6E-38AD-213BE9BCDE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0" y="1617784"/>
            <a:ext cx="8589031" cy="4922927"/>
          </a:xfrm>
        </p:spPr>
        <p:txBody>
          <a:bodyPr/>
          <a:lstStyle/>
          <a:p>
            <a:r>
              <a:rPr lang="en-IN" b="1" dirty="0"/>
              <a:t>UPI Transaction Analysis</a:t>
            </a:r>
            <a:br>
              <a:rPr lang="en-IN" dirty="0"/>
            </a:br>
            <a:r>
              <a:rPr lang="en-IN" dirty="0"/>
              <a:t>	</a:t>
            </a:r>
            <a:r>
              <a:rPr lang="en-IN" b="1" dirty="0"/>
              <a:t>“Performance, Risk &amp; Actionable Business Insights”</a:t>
            </a:r>
            <a:endParaRPr lang="en-IN" dirty="0"/>
          </a:p>
          <a:p>
            <a:r>
              <a:rPr lang="en-IN" dirty="0"/>
              <a:t>This fits your presentation particularly well because the slides move from </a:t>
            </a:r>
            <a:r>
              <a:rPr lang="en-IN" b="1" dirty="0"/>
              <a:t>overall transaction performance → fraud/failure insights → root causes → strategic recommendations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IN" dirty="0"/>
              <a:t>Transaction Performance at a Glance</a:t>
            </a:r>
          </a:p>
          <a:p>
            <a:r>
              <a:rPr lang="en-IN" dirty="0"/>
              <a:t>Identifying Device-Level Fraud Risk</a:t>
            </a:r>
          </a:p>
          <a:p>
            <a:r>
              <a:rPr lang="en-IN" dirty="0"/>
              <a:t>Understanding Device-Level Failures</a:t>
            </a:r>
          </a:p>
          <a:p>
            <a:r>
              <a:rPr lang="en-IN" dirty="0"/>
              <a:t>Regional Fraud Risk Analysis</a:t>
            </a:r>
          </a:p>
          <a:p>
            <a:r>
              <a:rPr lang="en-IN" dirty="0"/>
              <a:t>Key Drivers of Transaction Failures</a:t>
            </a:r>
          </a:p>
          <a:p>
            <a:r>
              <a:rPr lang="en-IN" dirty="0"/>
              <a:t>Strategic Recommendation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69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3EC08-EEEA-F0C0-9914-8A3171A4B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3451"/>
          </a:xfrm>
        </p:spPr>
        <p:txBody>
          <a:bodyPr>
            <a:normAutofit/>
          </a:bodyPr>
          <a:lstStyle/>
          <a:p>
            <a:pPr algn="ctr"/>
            <a:r>
              <a:rPr lang="en-IN" sz="3600" dirty="0"/>
              <a:t>	</a:t>
            </a:r>
            <a:r>
              <a:rPr lang="en-IN" sz="3600" dirty="0">
                <a:highlight>
                  <a:srgbClr val="FFFF00"/>
                </a:highlight>
              </a:rPr>
              <a:t>Overall Transaction Performance(KPI)</a:t>
            </a:r>
            <a:endParaRPr lang="en-US" sz="3600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C09D1-8815-BFC8-E322-6450C5860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8576"/>
            <a:ext cx="10515600" cy="5028387"/>
          </a:xfrm>
        </p:spPr>
        <p:txBody>
          <a:bodyPr/>
          <a:lstStyle/>
          <a:p>
            <a:r>
              <a:rPr lang="en-IN" dirty="0"/>
              <a:t>Total Transactions : 100K</a:t>
            </a:r>
          </a:p>
          <a:p>
            <a:r>
              <a:rPr lang="en-IN" dirty="0"/>
              <a:t>Total Transaction Amt : 4.24M</a:t>
            </a:r>
          </a:p>
          <a:p>
            <a:r>
              <a:rPr lang="en-IN" dirty="0" err="1"/>
              <a:t>Avg</a:t>
            </a:r>
            <a:r>
              <a:rPr lang="en-IN" dirty="0"/>
              <a:t> Transaction Amt : 42.42</a:t>
            </a:r>
          </a:p>
          <a:p>
            <a:r>
              <a:rPr lang="en-IN" dirty="0"/>
              <a:t>Failed Transactions : 5.87K</a:t>
            </a:r>
          </a:p>
          <a:p>
            <a:r>
              <a:rPr lang="en-IN" dirty="0"/>
              <a:t>Failure Rate  : 5.87% </a:t>
            </a:r>
          </a:p>
          <a:p>
            <a:r>
              <a:rPr lang="en-IN" dirty="0"/>
              <a:t>Fraud Transactions : 2K</a:t>
            </a:r>
          </a:p>
          <a:p>
            <a:r>
              <a:rPr lang="en-IN" dirty="0"/>
              <a:t>Fraud Rate : 2%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990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94C11-8E63-AD96-5C19-393C3913D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7626"/>
          </a:xfrm>
        </p:spPr>
        <p:txBody>
          <a:bodyPr>
            <a:normAutofit fontScale="90000"/>
          </a:bodyPr>
          <a:lstStyle/>
          <a:p>
            <a:r>
              <a:rPr lang="en-IN" sz="2000" b="1" dirty="0"/>
              <a:t>Business interpretation</a:t>
            </a:r>
            <a:br>
              <a:rPr lang="en-IN" sz="2000" b="1" dirty="0"/>
            </a:br>
            <a:r>
              <a:rPr lang="en-IN" sz="2000" dirty="0"/>
              <a:t>The fraud rate is relatively contained at 2%, but the </a:t>
            </a:r>
            <a:r>
              <a:rPr lang="en-IN" sz="2000" b="1" dirty="0"/>
              <a:t>failure rate of 7.86% is materially larger</a:t>
            </a:r>
            <a:r>
              <a:rPr lang="en-IN" sz="2000" dirty="0"/>
              <a:t> and represents a bigger immediate operational and customer-experience issue.</a:t>
            </a:r>
            <a:br>
              <a:rPr lang="en-IN" sz="2000" dirty="0"/>
            </a:br>
            <a:endParaRPr lang="en-US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44580-113B-A0D7-D0BA-FABC778E1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0491"/>
            <a:ext cx="10515600" cy="399647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dirty="0">
                <a:highlight>
                  <a:srgbClr val="FF00FF"/>
                </a:highlight>
              </a:rPr>
              <a:t>INSIGHT 1 — Feature phones have the highest fraud rate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sz="1800" b="1" dirty="0"/>
              <a:t>Interpretation</a:t>
            </a:r>
          </a:p>
          <a:p>
            <a:pPr marL="0" indent="0">
              <a:buNone/>
            </a:pPr>
            <a:r>
              <a:rPr lang="en-IN" sz="1800" dirty="0"/>
              <a:t>	Feature-phone transactions show the highest fraud concentration with 2.15%.</a:t>
            </a:r>
          </a:p>
          <a:p>
            <a:pPr marL="0" indent="0">
              <a:buNone/>
            </a:pPr>
            <a:endParaRPr lang="en-IN" sz="1800" dirty="0"/>
          </a:p>
          <a:p>
            <a:r>
              <a:rPr lang="en-IN" sz="1800" b="1" dirty="0"/>
              <a:t>Possible reason to investigate</a:t>
            </a:r>
          </a:p>
          <a:p>
            <a:pPr lvl="1"/>
            <a:r>
              <a:rPr lang="en-IN" sz="1400" dirty="0"/>
              <a:t>Weaker device-level security </a:t>
            </a:r>
          </a:p>
          <a:p>
            <a:pPr lvl="1"/>
            <a:r>
              <a:rPr lang="en-IN" sz="1400" dirty="0"/>
              <a:t>Older operating environments </a:t>
            </a:r>
          </a:p>
          <a:p>
            <a:pPr lvl="1"/>
            <a:r>
              <a:rPr lang="en-IN" sz="1400" dirty="0"/>
              <a:t>Less advanced authentication </a:t>
            </a:r>
          </a:p>
          <a:p>
            <a:pPr lvl="1"/>
            <a:r>
              <a:rPr lang="en-IN" sz="1400" dirty="0"/>
              <a:t>Greater vulnerability to SIM or account compromise</a:t>
            </a:r>
          </a:p>
          <a:p>
            <a:pPr lvl="1"/>
            <a:endParaRPr lang="en-IN" sz="1400" dirty="0"/>
          </a:p>
          <a:p>
            <a:pPr marL="457200" lvl="1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137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B3317-418C-24F0-A409-C6CE2E6E1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dirty="0">
                <a:solidFill>
                  <a:schemeClr val="accent4"/>
                </a:solidFill>
              </a:rPr>
              <a:t>INSIGHT 2 — Android has the highest transaction failure rate</a:t>
            </a:r>
            <a:endParaRPr lang="en-US" sz="3200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D1C2F-88A9-76E9-AC19-F16CE27FB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Android Failure Rate </a:t>
            </a:r>
            <a:r>
              <a:rPr lang="en-IN"/>
              <a:t>= 6.06%. </a:t>
            </a:r>
            <a:r>
              <a:rPr lang="en-IN" dirty="0"/>
              <a:t>This is the highest among device types.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b="1" dirty="0"/>
              <a:t>Business impact</a:t>
            </a:r>
          </a:p>
          <a:p>
            <a:pPr lvl="1"/>
            <a:r>
              <a:rPr lang="en-IN" dirty="0"/>
              <a:t>Android users may be experiencing</a:t>
            </a:r>
          </a:p>
          <a:p>
            <a:pPr lvl="1"/>
            <a:r>
              <a:rPr lang="en-IN" dirty="0"/>
              <a:t>App compatibility problems </a:t>
            </a:r>
          </a:p>
          <a:p>
            <a:pPr lvl="1"/>
            <a:r>
              <a:rPr lang="en-IN" dirty="0"/>
              <a:t>Network instability </a:t>
            </a:r>
          </a:p>
          <a:p>
            <a:pPr lvl="1"/>
            <a:r>
              <a:rPr lang="en-IN" dirty="0"/>
              <a:t>App version issues </a:t>
            </a:r>
          </a:p>
          <a:p>
            <a:pPr lvl="1"/>
            <a:r>
              <a:rPr lang="en-IN" dirty="0"/>
              <a:t>Authentication or device-specific problems</a:t>
            </a:r>
          </a:p>
          <a:p>
            <a:pPr marL="0" indent="0">
              <a:buNone/>
            </a:pPr>
            <a:br>
              <a:rPr lang="en-I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7643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D023F-501E-BC4D-A091-5A3C6B367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dirty="0">
                <a:solidFill>
                  <a:schemeClr val="accent4"/>
                </a:solidFill>
              </a:rPr>
              <a:t>INSIGHT 3 — West region has the highest fraud rate</a:t>
            </a:r>
            <a:endParaRPr lang="en-US" sz="3200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51DDD-AFF6-09AF-6AD4-9FD7921A1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West Region Fraud Rate = 2.09%. </a:t>
            </a:r>
            <a:r>
              <a:rPr lang="en-IN" dirty="0"/>
              <a:t>This is higher than the other regions.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IN" b="1" dirty="0"/>
              <a:t>Business interpretation</a:t>
            </a:r>
          </a:p>
          <a:p>
            <a:pPr lvl="1"/>
            <a:r>
              <a:rPr lang="en-IN" dirty="0"/>
              <a:t>The West region should be prioritized for</a:t>
            </a:r>
          </a:p>
          <a:p>
            <a:pPr lvl="1"/>
            <a:r>
              <a:rPr lang="en-IN" dirty="0"/>
              <a:t>Enhanced fraud monitoring </a:t>
            </a:r>
          </a:p>
          <a:p>
            <a:pPr lvl="1"/>
            <a:r>
              <a:rPr lang="en-IN" dirty="0"/>
              <a:t>Regional transaction risk rules </a:t>
            </a:r>
          </a:p>
          <a:p>
            <a:pPr lvl="1"/>
            <a:r>
              <a:rPr lang="en-IN" dirty="0"/>
              <a:t>Customer awareness campaigns </a:t>
            </a:r>
          </a:p>
          <a:p>
            <a:pPr lvl="1"/>
            <a:r>
              <a:rPr lang="en-IN" dirty="0"/>
              <a:t>High-risk merchant review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729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A8875-D91A-2F84-EAE8-54064A6EF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37625"/>
            <a:ext cx="9905998" cy="1055078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200" dirty="0">
                <a:solidFill>
                  <a:schemeClr val="accent4"/>
                </a:solidFill>
              </a:rPr>
              <a:t>INSIGHT 4 — Transaction failures are driven by four major root causes</a:t>
            </a:r>
            <a:endParaRPr lang="en-US" sz="3200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B85C1-26AE-F5D3-4A86-C7D002E00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2322"/>
            <a:ext cx="10515600" cy="4604641"/>
          </a:xfrm>
        </p:spPr>
        <p:txBody>
          <a:bodyPr>
            <a:normAutofit fontScale="92500" lnSpcReduction="10000"/>
          </a:bodyPr>
          <a:lstStyle/>
          <a:p>
            <a:r>
              <a:rPr lang="en-US" sz="2100" dirty="0"/>
              <a:t>Incorrect PIN      1,511</a:t>
            </a:r>
          </a:p>
          <a:p>
            <a:r>
              <a:rPr lang="en-US" sz="2100" dirty="0"/>
              <a:t>Network Error      1,486</a:t>
            </a:r>
          </a:p>
          <a:p>
            <a:r>
              <a:rPr lang="en-US" sz="2100" dirty="0"/>
              <a:t>Account Blocked    1,455</a:t>
            </a:r>
          </a:p>
          <a:p>
            <a:r>
              <a:rPr lang="en-US" sz="2100" dirty="0"/>
              <a:t>Bank Down          1,419</a:t>
            </a:r>
          </a:p>
          <a:p>
            <a:pPr marL="0" indent="0">
              <a:buNone/>
            </a:pPr>
            <a:endParaRPr lang="en-US" dirty="0"/>
          </a:p>
          <a:p>
            <a:r>
              <a:rPr lang="en-IN" b="1" dirty="0"/>
              <a:t>Business interpretation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sz="2200" dirty="0"/>
              <a:t>The largest failure causes involve both:</a:t>
            </a:r>
          </a:p>
          <a:p>
            <a:pPr marL="0" lvl="0" indent="0">
              <a:buNone/>
            </a:pPr>
            <a:r>
              <a:rPr lang="en-IN" sz="2200" b="1" dirty="0"/>
              <a:t>	1) Customer behaviour</a:t>
            </a:r>
            <a:r>
              <a:rPr lang="en-IN" sz="2200" dirty="0"/>
              <a:t> — Incorrect PIN </a:t>
            </a:r>
          </a:p>
          <a:p>
            <a:pPr marL="0" lvl="0" indent="0">
              <a:buNone/>
            </a:pPr>
            <a:r>
              <a:rPr lang="en-IN" sz="2200" b="1" dirty="0"/>
              <a:t>	2) Technical/infrastructure issues</a:t>
            </a:r>
            <a:r>
              <a:rPr lang="en-IN" sz="2200" dirty="0"/>
              <a:t> — Network and Bank Down </a:t>
            </a:r>
          </a:p>
          <a:p>
            <a:pPr marL="0" lvl="0" indent="0">
              <a:buNone/>
            </a:pPr>
            <a:r>
              <a:rPr lang="en-IN" sz="2200" b="1" dirty="0"/>
              <a:t>	3) Account management issues</a:t>
            </a:r>
            <a:r>
              <a:rPr lang="en-IN" sz="2200" dirty="0"/>
              <a:t> — Account Blocked </a:t>
            </a:r>
          </a:p>
          <a:p>
            <a:pPr marL="0" indent="0">
              <a:buNone/>
            </a:pPr>
            <a:r>
              <a:rPr lang="en-IN" sz="2200" dirty="0"/>
              <a:t>Therefore, reducing failure rates requires multiple interventions.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8295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2466A-2536-A63D-6A9E-73D516EEB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chemeClr val="accent5"/>
                </a:solidFill>
              </a:rPr>
              <a:t>STRATEGIC RECOMMENDATION 1 — Device-Based Fraud Controls</a:t>
            </a:r>
            <a:br>
              <a:rPr lang="en-IN" sz="3200" b="1" dirty="0"/>
            </a:br>
            <a:endParaRPr lang="en-US" sz="3200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FE1D4-8734-876D-175A-A87D37D2A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616591"/>
            <a:ext cx="9905998" cy="3174610"/>
          </a:xfrm>
        </p:spPr>
        <p:txBody>
          <a:bodyPr>
            <a:normAutofit fontScale="77500" lnSpcReduction="20000"/>
          </a:bodyPr>
          <a:lstStyle/>
          <a:p>
            <a:r>
              <a:rPr lang="en-IN" sz="1600" b="1" dirty="0"/>
              <a:t>Problem: </a:t>
            </a:r>
            <a:r>
              <a:rPr lang="en-IN" sz="1600" dirty="0"/>
              <a:t>Feature phones have the highest fraud rate at: 2.15%.</a:t>
            </a:r>
          </a:p>
          <a:p>
            <a:r>
              <a:rPr lang="en-IN" sz="1600" b="1" dirty="0"/>
              <a:t>Recommendation</a:t>
            </a:r>
          </a:p>
          <a:p>
            <a:pPr lvl="1"/>
            <a:r>
              <a:rPr lang="en-IN" sz="1600" dirty="0"/>
              <a:t>Implement additional authentication for high-risk device activity:</a:t>
            </a:r>
          </a:p>
          <a:p>
            <a:pPr lvl="1"/>
            <a:r>
              <a:rPr lang="en-IN" sz="1600" dirty="0"/>
              <a:t>Step-up verification </a:t>
            </a:r>
          </a:p>
          <a:p>
            <a:pPr lvl="1"/>
            <a:r>
              <a:rPr lang="en-IN" sz="1600" dirty="0"/>
              <a:t>OTP verification for unusual transactions </a:t>
            </a:r>
          </a:p>
          <a:p>
            <a:pPr lvl="1"/>
            <a:r>
              <a:rPr lang="en-IN" sz="1600" dirty="0"/>
              <a:t>Device fingerprinting </a:t>
            </a:r>
          </a:p>
          <a:p>
            <a:pPr lvl="1"/>
            <a:r>
              <a:rPr lang="en-IN" sz="1600" dirty="0"/>
              <a:t>Velocity monitoring </a:t>
            </a:r>
          </a:p>
          <a:p>
            <a:pPr lvl="1"/>
            <a:r>
              <a:rPr lang="en-IN" sz="1600" dirty="0"/>
              <a:t>Suspicious login detection</a:t>
            </a:r>
          </a:p>
          <a:p>
            <a:pPr marL="0" indent="0">
              <a:buNone/>
            </a:pPr>
            <a:endParaRPr lang="en-IN" sz="1600" dirty="0"/>
          </a:p>
          <a:p>
            <a:r>
              <a:rPr lang="en-IN" sz="1600" b="1" dirty="0"/>
              <a:t>Potential business impact estimate</a:t>
            </a:r>
          </a:p>
          <a:p>
            <a:pPr marL="0" indent="0">
              <a:buNone/>
            </a:pPr>
            <a:r>
              <a:rPr lang="en-IN" sz="1600" dirty="0"/>
              <a:t>	If targeted controls reduce feature-phone fraud by </a:t>
            </a:r>
            <a:r>
              <a:rPr lang="en-IN" sz="1600" b="1" dirty="0"/>
              <a:t>20%</a:t>
            </a:r>
            <a:r>
              <a:rPr lang="en-IN" sz="1600" dirty="0"/>
              <a:t>, approximately. This could materially reduce fraud exposure in that segment.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IN" sz="1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963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011AC-9E38-4857-13A5-6E28F06DF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dirty="0">
                <a:solidFill>
                  <a:schemeClr val="accent5"/>
                </a:solidFill>
              </a:rPr>
              <a:t>STRATEGIC RECOMMENDATION 2 — Android Failure Reduction Program</a:t>
            </a:r>
            <a:endParaRPr lang="en-US" sz="3200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4D369-54D9-3528-AE0B-82BF7935C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sz="1600" b="1" dirty="0"/>
              <a:t>Problem : </a:t>
            </a:r>
            <a:r>
              <a:rPr lang="en-IN" sz="1600" dirty="0"/>
              <a:t>Android has the highest failure rate:- 8.17%</a:t>
            </a:r>
          </a:p>
          <a:p>
            <a:pPr marL="0" indent="0">
              <a:buNone/>
            </a:pPr>
            <a:endParaRPr lang="en-IN" sz="1600" dirty="0"/>
          </a:p>
          <a:p>
            <a:r>
              <a:rPr lang="en-IN" sz="1600" b="1" dirty="0"/>
              <a:t>Recommendation</a:t>
            </a:r>
          </a:p>
          <a:p>
            <a:pPr lvl="1"/>
            <a:r>
              <a:rPr lang="en-IN" sz="1600" dirty="0"/>
              <a:t>Create an Android reliability program:</a:t>
            </a:r>
          </a:p>
          <a:p>
            <a:pPr lvl="1"/>
            <a:r>
              <a:rPr lang="en-IN" sz="1600" dirty="0"/>
              <a:t>Monitor failures by app version </a:t>
            </a:r>
          </a:p>
          <a:p>
            <a:pPr lvl="1"/>
            <a:r>
              <a:rPr lang="en-IN" sz="1600" dirty="0"/>
              <a:t>Identify high-failure Android versions </a:t>
            </a:r>
          </a:p>
          <a:p>
            <a:pPr lvl="1"/>
            <a:r>
              <a:rPr lang="en-IN" sz="1600" dirty="0"/>
              <a:t>Improve network retry handling </a:t>
            </a:r>
          </a:p>
          <a:p>
            <a:pPr lvl="1"/>
            <a:r>
              <a:rPr lang="en-IN" sz="1600" dirty="0"/>
              <a:t>Prompt users to update outdated versions </a:t>
            </a:r>
          </a:p>
          <a:p>
            <a:pPr lvl="1"/>
            <a:r>
              <a:rPr lang="en-IN" sz="1600" dirty="0"/>
              <a:t>Add diagnostics for failed authentication </a:t>
            </a:r>
          </a:p>
          <a:p>
            <a:pPr marL="457200" lvl="1" indent="0">
              <a:buNone/>
            </a:pPr>
            <a:endParaRPr lang="en-IN" sz="1600" dirty="0"/>
          </a:p>
          <a:p>
            <a:r>
              <a:rPr lang="en-IN" sz="1600" b="1" dirty="0"/>
              <a:t>Potential business impact estimate</a:t>
            </a:r>
          </a:p>
          <a:p>
            <a:pPr marL="0" indent="0">
              <a:buNone/>
            </a:pPr>
            <a:r>
              <a:rPr lang="en-IN" sz="1600" dirty="0"/>
              <a:t>	A </a:t>
            </a:r>
            <a:r>
              <a:rPr lang="en-IN" sz="1600" b="1" dirty="0"/>
              <a:t>15% reduction</a:t>
            </a:r>
            <a:r>
              <a:rPr lang="en-IN" sz="1600" dirty="0"/>
              <a:t> in Android failures would recover approximately: 2,054 × 15% ≈ 308 transactions.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b="1" dirty="0"/>
              <a:t>This would improve customer experience and transaction completion.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41263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59E4F-9AC8-D571-1CCF-0B4C56EEC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chemeClr val="accent5"/>
                </a:solidFill>
              </a:rPr>
              <a:t>STRATEGIC RECOMMENDATION 3 — PIN &amp; Customer Education Campaign</a:t>
            </a:r>
            <a:endParaRPr lang="en-US" sz="3200" b="1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132C5-8C49-AD74-E21B-AFF72B1FF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sz="1600" b="1" dirty="0"/>
              <a:t>Problem : </a:t>
            </a:r>
            <a:r>
              <a:rPr lang="en-IN" sz="1600" dirty="0"/>
              <a:t>The largest single failure reason is: Incorrect PIN = 1,511 failures</a:t>
            </a:r>
          </a:p>
          <a:p>
            <a:pPr marL="0" indent="0">
              <a:buNone/>
            </a:pPr>
            <a:endParaRPr lang="en-IN" sz="1600" dirty="0"/>
          </a:p>
          <a:p>
            <a:r>
              <a:rPr lang="en-IN" sz="1600" b="1" dirty="0"/>
              <a:t>Recommendation</a:t>
            </a:r>
            <a:endParaRPr lang="en-IN" sz="1600" dirty="0"/>
          </a:p>
          <a:p>
            <a:pPr marL="0" indent="0">
              <a:buNone/>
            </a:pPr>
            <a:r>
              <a:rPr lang="en-IN" sz="1600" dirty="0"/>
              <a:t>	Clear PIN guidance </a:t>
            </a:r>
          </a:p>
          <a:p>
            <a:pPr marL="0" lvl="0" indent="0">
              <a:buNone/>
            </a:pPr>
            <a:r>
              <a:rPr lang="en-IN" sz="1600" dirty="0"/>
              <a:t>	Better error messages </a:t>
            </a:r>
          </a:p>
          <a:p>
            <a:pPr marL="0" lvl="0" indent="0">
              <a:buNone/>
            </a:pPr>
            <a:r>
              <a:rPr lang="en-IN" sz="1600" dirty="0"/>
              <a:t>	Pre-transaction warnings after repeated incorrect attempts </a:t>
            </a:r>
          </a:p>
          <a:p>
            <a:pPr marL="0" lvl="0" indent="0">
              <a:buNone/>
            </a:pPr>
            <a:r>
              <a:rPr lang="en-IN" sz="1600" dirty="0"/>
              <a:t>	Educational in-app notifications 	</a:t>
            </a:r>
          </a:p>
          <a:p>
            <a:pPr marL="0" lvl="0" indent="0">
              <a:buNone/>
            </a:pPr>
            <a:r>
              <a:rPr lang="en-IN" sz="1600" dirty="0"/>
              <a:t>	Secure PIN reset guidance</a:t>
            </a:r>
          </a:p>
          <a:p>
            <a:r>
              <a:rPr lang="en-IN" sz="1600" b="1" dirty="0"/>
              <a:t>Potential impact estimate : </a:t>
            </a:r>
            <a:r>
              <a:rPr lang="en-IN" sz="1600" dirty="0"/>
              <a:t>If Incorrect PIN failures decrease by </a:t>
            </a:r>
            <a:r>
              <a:rPr lang="en-IN" sz="1600" b="1" dirty="0"/>
              <a:t>25%</a:t>
            </a:r>
            <a:r>
              <a:rPr lang="en-IN" sz="1600" dirty="0"/>
              <a:t>: 1,511 × 25% ≈ 378 fewer failures</a:t>
            </a:r>
          </a:p>
          <a:p>
            <a:endParaRPr lang="en-IN" sz="1600" dirty="0"/>
          </a:p>
          <a:p>
            <a:pPr marL="0" indent="0">
              <a:buNone/>
            </a:pPr>
            <a:r>
              <a:rPr lang="en-IN" sz="1600" b="1" dirty="0"/>
              <a:t>This could improve overall transaction success without major infrastructure investment.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00854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BD351-A68F-8CC1-3F24-225606E2D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dirty="0">
                <a:solidFill>
                  <a:schemeClr val="accent4"/>
                </a:solidFill>
              </a:rPr>
              <a:t>STRATEGIC RECOMMENDATION 4 — High-Risk Merchant Monitoring</a:t>
            </a:r>
            <a:endParaRPr lang="en-US" sz="3200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4E674-D9CC-5852-FA53-80E265FB2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sz="1600" b="1" dirty="0"/>
              <a:t>Problem : </a:t>
            </a:r>
            <a:r>
              <a:rPr lang="en-IN" sz="1600" dirty="0"/>
              <a:t>Electronics and Apparel have the highest fraud rates.</a:t>
            </a:r>
          </a:p>
          <a:p>
            <a:pPr marL="0" indent="0">
              <a:buNone/>
            </a:pPr>
            <a:endParaRPr lang="en-IN" sz="1600" dirty="0"/>
          </a:p>
          <a:p>
            <a:r>
              <a:rPr lang="en-IN" sz="1600" dirty="0"/>
              <a:t>Merchants exceeding the threshold should receive:</a:t>
            </a:r>
          </a:p>
          <a:p>
            <a:pPr lvl="0"/>
            <a:r>
              <a:rPr lang="en-IN" sz="1600" dirty="0"/>
              <a:t>Enhanced transaction monitoring </a:t>
            </a:r>
          </a:p>
          <a:p>
            <a:pPr lvl="0"/>
            <a:r>
              <a:rPr lang="en-IN" sz="1600" dirty="0"/>
              <a:t>Periodic onboarding review </a:t>
            </a:r>
          </a:p>
          <a:p>
            <a:pPr lvl="0"/>
            <a:r>
              <a:rPr lang="en-IN" sz="1600" dirty="0"/>
              <a:t>Temporary transaction limits where justified </a:t>
            </a:r>
          </a:p>
          <a:p>
            <a:pPr lvl="0"/>
            <a:r>
              <a:rPr lang="en-IN" sz="1600" dirty="0"/>
              <a:t>Fraud investigation review</a:t>
            </a:r>
          </a:p>
          <a:p>
            <a:pPr marL="0" indent="0">
              <a:buNone/>
            </a:pPr>
            <a:endParaRPr lang="en-IN" sz="1600" dirty="0"/>
          </a:p>
          <a:p>
            <a:r>
              <a:rPr lang="en-IN" sz="1600" b="1" dirty="0"/>
              <a:t>Potential impact</a:t>
            </a:r>
          </a:p>
          <a:p>
            <a:pPr marL="0" indent="0">
              <a:buNone/>
            </a:pPr>
            <a:r>
              <a:rPr lang="en-IN" sz="1600"/>
              <a:t>	Even a </a:t>
            </a:r>
            <a:r>
              <a:rPr lang="en-IN" sz="1600" b="1"/>
              <a:t>10–15% reduction in fraud within high-risk categories</a:t>
            </a:r>
            <a:r>
              <a:rPr lang="en-IN" sz="1600"/>
              <a:t> could reduce a disproportionate amount of 	fraud exposure.</a:t>
            </a:r>
          </a:p>
          <a:p>
            <a:pPr marL="0" indent="0">
              <a:buNone/>
            </a:pPr>
            <a:endParaRPr lang="en-IN" sz="1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4517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215</TotalTime>
  <Words>659</Words>
  <Application>Microsoft Macintosh PowerPoint</Application>
  <PresentationFormat>Widescreen</PresentationFormat>
  <Paragraphs>119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Century Gothic</vt:lpstr>
      <vt:lpstr>Mesh</vt:lpstr>
      <vt:lpstr>UPI Transaction ANALYSIS</vt:lpstr>
      <vt:lpstr>UPI Transactions Analysis</vt:lpstr>
      <vt:lpstr> Overall Transaction Performance(KPI)</vt:lpstr>
      <vt:lpstr>Business interpretation The fraud rate is relatively contained at 2%, but the failure rate of 7.86% is materially larger and represents a bigger immediate operational and customer-experience issue. </vt:lpstr>
      <vt:lpstr>INSIGHT 2 — Android has the highest transaction failure rate</vt:lpstr>
      <vt:lpstr>INSIGHT 3 — West region has the highest fraud rate</vt:lpstr>
      <vt:lpstr>INSIGHT 4 — Transaction failures are driven by four major root causes</vt:lpstr>
      <vt:lpstr>STRATEGIC RECOMMENDATION 1 — Device-Based Fraud Controls </vt:lpstr>
      <vt:lpstr>STRATEGIC RECOMMENDATION 2 — Android Failure Reduction Program</vt:lpstr>
      <vt:lpstr>STRATEGIC RECOMMENDATION 3 — PIN &amp; Customer Education Campaign</vt:lpstr>
      <vt:lpstr>STRATEGIC RECOMMENDATION 4 — High-Risk Merchant Monitoring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arinmac26@gmail.com</dc:creator>
  <cp:lastModifiedBy>arinmac26@gmail.com</cp:lastModifiedBy>
  <cp:revision>15</cp:revision>
  <dcterms:created xsi:type="dcterms:W3CDTF">2026-08-26T16:34:17Z</dcterms:created>
  <dcterms:modified xsi:type="dcterms:W3CDTF">2026-09-12T08:24:04Z</dcterms:modified>
</cp:coreProperties>
</file>